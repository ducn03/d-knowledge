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44"/>
  </p:notesMasterIdLst>
  <p:sldIdLst>
    <p:sldId id="314" r:id="rId2"/>
    <p:sldId id="493" r:id="rId3"/>
    <p:sldId id="269" r:id="rId4"/>
    <p:sldId id="494" r:id="rId5"/>
    <p:sldId id="261" r:id="rId6"/>
    <p:sldId id="263" r:id="rId7"/>
    <p:sldId id="467" r:id="rId8"/>
    <p:sldId id="468" r:id="rId9"/>
    <p:sldId id="469" r:id="rId10"/>
    <p:sldId id="488" r:id="rId11"/>
    <p:sldId id="470" r:id="rId12"/>
    <p:sldId id="489" r:id="rId13"/>
    <p:sldId id="471" r:id="rId14"/>
    <p:sldId id="490" r:id="rId15"/>
    <p:sldId id="472" r:id="rId16"/>
    <p:sldId id="473" r:id="rId17"/>
    <p:sldId id="295" r:id="rId18"/>
    <p:sldId id="443" r:id="rId19"/>
    <p:sldId id="474" r:id="rId20"/>
    <p:sldId id="475" r:id="rId21"/>
    <p:sldId id="491" r:id="rId22"/>
    <p:sldId id="477" r:id="rId23"/>
    <p:sldId id="492" r:id="rId24"/>
    <p:sldId id="380" r:id="rId25"/>
    <p:sldId id="381" r:id="rId26"/>
    <p:sldId id="478" r:id="rId27"/>
    <p:sldId id="479" r:id="rId28"/>
    <p:sldId id="482" r:id="rId29"/>
    <p:sldId id="481" r:id="rId30"/>
    <p:sldId id="428" r:id="rId31"/>
    <p:sldId id="432" r:id="rId32"/>
    <p:sldId id="436" r:id="rId33"/>
    <p:sldId id="440" r:id="rId34"/>
    <p:sldId id="453" r:id="rId35"/>
    <p:sldId id="454" r:id="rId36"/>
    <p:sldId id="483" r:id="rId37"/>
    <p:sldId id="484" r:id="rId38"/>
    <p:sldId id="485" r:id="rId39"/>
    <p:sldId id="486" r:id="rId40"/>
    <p:sldId id="487" r:id="rId41"/>
    <p:sldId id="466" r:id="rId42"/>
    <p:sldId id="268" r:id="rId4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FF"/>
    <a:srgbClr val="0072FF"/>
    <a:srgbClr val="1CB5E0"/>
    <a:srgbClr val="000046"/>
    <a:srgbClr val="00F7FF"/>
    <a:srgbClr val="0A4671"/>
    <a:srgbClr val="114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0"/>
    <p:restoredTop sz="94704"/>
  </p:normalViewPr>
  <p:slideViewPr>
    <p:cSldViewPr snapToGrid="0">
      <p:cViewPr varScale="1">
        <p:scale>
          <a:sx n="86" d="100"/>
          <a:sy n="86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12/05/2024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5400000" scaled="1"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4ECB9C0D-6BC4-06A8-31B3-6D4D05D5A532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Isosceles Triangle 12">
            <a:extLst>
              <a:ext uri="{FF2B5EF4-FFF2-40B4-BE49-F238E27FC236}">
                <a16:creationId xmlns:a16="http://schemas.microsoft.com/office/drawing/2014/main" id="{255375C3-CD88-2FF5-F57C-94012687A003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75E782-84F1-2FE6-B32C-2CEDC078A3E7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F1B8EEE-CF84-3651-C40A-CC45C71B09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9B08090-ABF9-71C9-96B7-ED39806CA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EB532A4-691C-A7B2-9B00-A888444BF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828B3C0-BF98-308C-1C96-1B1B2C948F8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911F23-834E-9635-07BE-56C6BA81807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784C0A6-0AA7-8759-5AE6-71A7E3F80D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09177AE-D197-ED6A-5143-84F37D23F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2A77F6-D23F-C55B-9FEB-B467C8EF8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Freeform 17">
            <a:extLst>
              <a:ext uri="{FF2B5EF4-FFF2-40B4-BE49-F238E27FC236}">
                <a16:creationId xmlns:a16="http://schemas.microsoft.com/office/drawing/2014/main" id="{C7427735-FDF5-AD43-D981-0D29697A194D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A68358DF-BF42-3FFC-B68E-5620302F32D2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35" name="Picture 34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41FD0EA7-1986-4A78-23EF-56793D0AEB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47B4D88-61CE-2596-B416-49A0B85F0514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51137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871262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0720901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57563D2E-1464-F4DC-680D-29877EB89C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20C05E-2806-6A11-0CEC-1BE4315205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AE0A98-F8D1-D0A3-1A2F-7154B6549892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23DC2-02C7-8C77-2D04-A96541E3A583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1C568-955A-59F4-0185-C0BD5DF387B3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82665-0C7D-50B7-34EE-4782EFDC418A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F7AF7B-AD51-D4E7-8DBE-54F0B941BF46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6AE3EB-4115-B561-8E64-59E593CFEC98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12">
            <a:extLst>
              <a:ext uri="{FF2B5EF4-FFF2-40B4-BE49-F238E27FC236}">
                <a16:creationId xmlns:a16="http://schemas.microsoft.com/office/drawing/2014/main" id="{082F8C24-8EC3-12D9-31D2-D9AF7899ED56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EA8BB2-C106-8466-0C4C-617FDA7C1F51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14CB226-4F6B-BE76-F70F-6C697E90F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1602105-9594-E052-65A8-1862699041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8DC0ADB-CDDD-6330-2943-0D153B845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Isosceles Triangle 12">
            <a:extLst>
              <a:ext uri="{FF2B5EF4-FFF2-40B4-BE49-F238E27FC236}">
                <a16:creationId xmlns:a16="http://schemas.microsoft.com/office/drawing/2014/main" id="{5901D9CF-985A-8406-4A37-38F31E2609D6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37415A-2375-7DEF-5823-D3665222BA11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20844FD-9E24-FB04-4E6D-4EADDADB3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22A5C58-98E1-B5E0-7929-4E19F441F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D85F7D8-734D-6489-3F73-028DC84ED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Freeform 30">
            <a:extLst>
              <a:ext uri="{FF2B5EF4-FFF2-40B4-BE49-F238E27FC236}">
                <a16:creationId xmlns:a16="http://schemas.microsoft.com/office/drawing/2014/main" id="{42F002FA-8869-A427-1258-CFBBD56FC75F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1F7437DE-B61C-AA09-3196-BE1C81E8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F6D26DEF-252F-4533-E8C5-9C000CC26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52" name="Text Placeholder 34">
            <a:extLst>
              <a:ext uri="{FF2B5EF4-FFF2-40B4-BE49-F238E27FC236}">
                <a16:creationId xmlns:a16="http://schemas.microsoft.com/office/drawing/2014/main" id="{312D54FE-A165-49EC-7CF1-955D9964F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53" name="Text Placeholder 36">
            <a:extLst>
              <a:ext uri="{FF2B5EF4-FFF2-40B4-BE49-F238E27FC236}">
                <a16:creationId xmlns:a16="http://schemas.microsoft.com/office/drawing/2014/main" id="{03533A13-7B00-C8B7-BBDA-994F134AB8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C1F332-54AD-1918-5972-6C04BED89F98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51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233824"/>
            <a:ext cx="10579654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106768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7929061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3679024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93861893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360800298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513520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935455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A66F8-E091-9C03-CD6B-317D0180ADDD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F01B-1418-7515-A2D9-40BE42BE32BD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161D7-9C70-83EF-EE51-E59464E9FF79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4F566-E8F9-197C-FC4C-0E96F2163AA2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0CF87-B708-06C0-11BA-20052748E49F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E2ADF-9658-9B1B-7EA8-E37B1FC3CB44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solidFill>
              <a:srgbClr val="00F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1192873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89939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30" y="2095027"/>
            <a:ext cx="6264164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8913813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1.x.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01.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382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677478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673557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rang trố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F4205-FE69-B110-BFEC-96C243E8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4104" y="6481647"/>
            <a:ext cx="4823792" cy="239828"/>
          </a:xfrm>
        </p:spPr>
        <p:txBody>
          <a:bodyPr/>
          <a:lstStyle>
            <a:lvl1pPr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B001B7A-ACFD-E95F-12D9-19AAE5D26050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Isosceles Triangle 12">
            <a:extLst>
              <a:ext uri="{FF2B5EF4-FFF2-40B4-BE49-F238E27FC236}">
                <a16:creationId xmlns:a16="http://schemas.microsoft.com/office/drawing/2014/main" id="{EC54FC6D-4EA2-05B8-622E-978CA44EE451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6BFCC2-A4FC-FD21-E540-274D8A5E86A6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02FF7A-C97B-6315-EE50-502DD7017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BB8E8B-5D54-0BE8-2B45-A52136DC7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6865F1-6407-106A-3054-46BDFFCAB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Isosceles Triangle 12">
            <a:extLst>
              <a:ext uri="{FF2B5EF4-FFF2-40B4-BE49-F238E27FC236}">
                <a16:creationId xmlns:a16="http://schemas.microsoft.com/office/drawing/2014/main" id="{F7A0C3F8-4035-744F-55A7-EA06C1D5C7EA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9E4668-1010-687F-A942-6C4D5A705103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8CE8D-69BB-4124-0995-8FFFD3591C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7A915F-DF8B-DE38-6935-2EF2855BD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9EE0435-0ACC-2AB8-1B9F-A6029A49F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193E2330-6133-BE87-4D2E-C83A58844D20}"/>
              </a:ext>
            </a:extLst>
          </p:cNvPr>
          <p:cNvSpPr/>
          <p:nvPr userDrawn="1"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7ACE3-8FB7-24F0-3868-FE9125A2AECB}"/>
              </a:ext>
            </a:extLst>
          </p:cNvPr>
          <p:cNvSpPr/>
          <p:nvPr userDrawn="1"/>
        </p:nvSpPr>
        <p:spPr>
          <a:xfrm>
            <a:off x="16026" y="4629289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5D02D-0007-4DC9-960D-BEF3BFABF7BF}"/>
              </a:ext>
            </a:extLst>
          </p:cNvPr>
          <p:cNvSpPr/>
          <p:nvPr userDrawn="1"/>
        </p:nvSpPr>
        <p:spPr>
          <a:xfrm>
            <a:off x="16026" y="5005641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C732A1-B62D-CEEA-BA05-6809BA51F8BD}"/>
              </a:ext>
            </a:extLst>
          </p:cNvPr>
          <p:cNvSpPr/>
          <p:nvPr userDrawn="1"/>
        </p:nvSpPr>
        <p:spPr>
          <a:xfrm>
            <a:off x="16026" y="5381993"/>
            <a:ext cx="434350" cy="346950"/>
          </a:xfrm>
          <a:prstGeom prst="rect">
            <a:avLst/>
          </a:prstGeom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BF2B8-4151-6AB5-64CB-17CA8871FA1F}"/>
              </a:ext>
            </a:extLst>
          </p:cNvPr>
          <p:cNvSpPr/>
          <p:nvPr userDrawn="1"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AEE115-474E-0C83-1F8A-40C90DC3E1A5}"/>
              </a:ext>
            </a:extLst>
          </p:cNvPr>
          <p:cNvSpPr/>
          <p:nvPr userDrawn="1"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BB15EA-009D-0AD0-1DD5-9E5E43B737E1}"/>
              </a:ext>
            </a:extLst>
          </p:cNvPr>
          <p:cNvSpPr/>
          <p:nvPr userDrawn="1"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72FF"/>
                </a:gs>
                <a:gs pos="100000">
                  <a:srgbClr val="00C6FF"/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0750E473-BE75-9843-7989-024278E0E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543E0-8536-7E05-8D77-79C6CEA0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97699" y="6560242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D0C70-2015-36A0-DCB1-0E2322D0D36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481647"/>
            <a:ext cx="2148299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89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gradFill>
                    <a:gsLst>
                      <a:gs pos="0">
                        <a:srgbClr val="000046"/>
                      </a:gs>
                      <a:gs pos="100000">
                        <a:srgbClr val="1CB5E0"/>
                      </a:gs>
                    </a:gsLst>
                    <a:lin ang="5400000" scaled="1"/>
                  </a:gradFill>
                </a:ln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2000" b="1" kern="1200" dirty="0">
                <a:gradFill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0970" y="4963048"/>
            <a:ext cx="2830058" cy="345005"/>
          </a:xfr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8BC0B81-9708-34C0-3CBB-EA50270B9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0807" y="3630811"/>
            <a:ext cx="8490387" cy="64421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spc="150" baseline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(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  <a:endParaRPr lang="en-V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0400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r>
              <a:rPr lang="en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5144" y="1286346"/>
            <a:ext cx="6721714" cy="4699000"/>
          </a:xfrm>
        </p:spPr>
        <p:txBody>
          <a:bodyPr anchor="ctr">
            <a:normAutofit/>
          </a:bodyPr>
          <a:lstStyle>
            <a:lvl1pPr marL="514350" indent="-514350" algn="just">
              <a:buFont typeface="+mj-lt"/>
              <a:buAutoNum type="arabicPeriod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6" name="Picture 85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59A81B3C-3C09-2267-567B-AD3F47296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8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429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8" r:id="rId12"/>
    <p:sldLayoutId id="2147483679" r:id="rId13"/>
    <p:sldLayoutId id="2147483649" r:id="rId14"/>
    <p:sldLayoutId id="2147483664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 flip="none" rotWithShape="1">
            <a:gsLst>
              <a:gs pos="0">
                <a:srgbClr val="0072FF"/>
              </a:gs>
              <a:gs pos="100000">
                <a:srgbClr val="00C6FF"/>
              </a:gs>
            </a:gsLst>
            <a:lin ang="2700000" scaled="1"/>
            <a:tileRect/>
          </a:gradFill>
          <a:effectLst>
            <a:innerShdw blurRad="114300">
              <a:schemeClr val="bg1"/>
            </a:inn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72110C-D077-8C1D-3057-3378C02C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DCF8-0D88-9852-95C4-4F568F0A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F55CA5-843C-3510-DCA9-291216FC7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TỔ CHỨC VÀ CẤU TRÚC MÁY TÍNH II</a:t>
            </a:r>
            <a:endParaRPr lang="en-V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113BCF-E52A-540A-4540-2833CA1A0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990" y="3062315"/>
            <a:ext cx="10438019" cy="459447"/>
          </a:xfrm>
        </p:spPr>
        <p:txBody>
          <a:bodyPr/>
          <a:lstStyle/>
          <a:p>
            <a:r>
              <a:rPr lang="en-US" dirty="0"/>
              <a:t>ÔN </a:t>
            </a:r>
            <a:r>
              <a:rPr lang="en-US"/>
              <a:t>TẬP CUỐI </a:t>
            </a:r>
            <a:r>
              <a:rPr lang="en-US" dirty="0"/>
              <a:t>HỌC KỲ</a:t>
            </a:r>
            <a:endParaRPr lang="en-V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41A4B7-48D3-1CAE-C056-FDAD586D04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PHAN ĐÌNH DUY</a:t>
            </a:r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73612D-1002-64DC-D3C2-F4E546D792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Ôn tập các nội dung lý thuyết trong </a:t>
            </a:r>
            <a:r>
              <a:rPr lang="en-US" err="1"/>
              <a:t>nửa </a:t>
            </a:r>
            <a:r>
              <a:rPr lang="en-US"/>
              <a:t>cuối </a:t>
            </a:r>
            <a:r>
              <a:rPr lang="en-US" dirty="0" err="1"/>
              <a:t>của học kỳ bao gồm</a:t>
            </a:r>
            <a:r>
              <a:rPr lang="en-US" err="1"/>
              <a:t>: </a:t>
            </a:r>
            <a:r>
              <a:rPr lang="en-US"/>
              <a:t>kiến trúc tập lệnh, biên dịch chương trình, bộ xử lý và hiệu suất máy tính. </a:t>
            </a:r>
            <a:r>
              <a:rPr lang="en-US" dirty="0" err="1"/>
              <a:t>Đồng thời giải các bài tập liên quan đến các nội dung lý thuyết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806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/>
              <a:t>Cấu trúc đề thi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Trắc nghiệm: 30 câu – 9.0 điểm (0.3 điểm/câu)</a:t>
            </a:r>
          </a:p>
          <a:p>
            <a:r>
              <a:rPr lang="vi-VN"/>
              <a:t>Tự luận: 1 câu – 1 điểm</a:t>
            </a:r>
          </a:p>
          <a:p>
            <a:r>
              <a:rPr lang="vi-VN"/>
              <a:t>Thời gian làm bài: 80 phút</a:t>
            </a:r>
          </a:p>
          <a:p>
            <a:r>
              <a:rPr lang="vi-VN"/>
              <a:t>Thi theo lịch của phòng ĐT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425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6FCBF-4D71-BDAD-8392-99213DE0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BD337-3CBD-0719-2FDF-03E1A46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</a:t>
            </a:fld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D77E0-7814-E542-0144-95AEF5C06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/>
              <a:t>Chương 6: Kiến trúc tập lệnh</a:t>
            </a:r>
            <a:endParaRPr lang="en-US" sz="2800" dirty="0" err="1"/>
          </a:p>
          <a:p>
            <a:pPr>
              <a:lnSpc>
                <a:spcPct val="150000"/>
              </a:lnSpc>
            </a:pPr>
            <a:r>
              <a:rPr lang="en-US" sz="2800"/>
              <a:t>Chương 7: Biên dịch chương trình</a:t>
            </a:r>
            <a:endParaRPr lang="en-US" sz="2800" dirty="0" err="1"/>
          </a:p>
          <a:p>
            <a:pPr>
              <a:lnSpc>
                <a:spcPct val="150000"/>
              </a:lnSpc>
            </a:pPr>
            <a:r>
              <a:rPr lang="en-US" sz="2800"/>
              <a:t>Chương 8: Bộ xử lý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/>
              <a:t>Chương 9: Hiệu suất máy tính</a:t>
            </a:r>
            <a:endParaRPr lang="en-US" sz="2800" dirty="0" err="1"/>
          </a:p>
        </p:txBody>
      </p:sp>
    </p:spTree>
    <p:extLst>
      <p:ext uri="{BB962C8B-B14F-4D97-AF65-F5344CB8AC3E}">
        <p14:creationId xmlns:p14="http://schemas.microsoft.com/office/powerpoint/2010/main" val="22190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/>
              <a:t>Nội dung đề thi - </a:t>
            </a:r>
            <a:r>
              <a:rPr lang="vi-VN" sz="4400"/>
              <a:t>các chương 6, 7, 8, 9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vi-VN"/>
              <a:t>Kiến trúc tập lệnh MIPS. Các nhóm lệnh, định dạng lệnh của MIPS.</a:t>
            </a:r>
          </a:p>
          <a:p>
            <a:r>
              <a:rPr lang="vi-VN"/>
              <a:t>Cách chuyển đổi từ chương trình C sang hợp ngữ, từ hợp ngữ sang mã máy và ngược lại.</a:t>
            </a:r>
          </a:p>
          <a:p>
            <a:r>
              <a:rPr lang="vi-VN"/>
              <a:t>Hiểu về khái niệm, cách hoạt động Datapath và Control unit của MIPS.</a:t>
            </a:r>
          </a:p>
          <a:p>
            <a:r>
              <a:rPr lang="vi-VN"/>
              <a:t>Các công đoạn thực thi lệnh trên MIPS.</a:t>
            </a:r>
          </a:p>
          <a:p>
            <a:r>
              <a:rPr lang="vi-VN"/>
              <a:t>Nắm được cách Datapath và Control Unit thực thi các lệnh nhóm số học và luận lý, lệnh lw, sw, beq. Yêu cầu:</a:t>
            </a:r>
          </a:p>
          <a:p>
            <a:r>
              <a:rPr lang="vi-VN"/>
              <a:t>    Xác định các khối chức năng được sử dụng khi thực thi lệnh</a:t>
            </a:r>
          </a:p>
          <a:p>
            <a:r>
              <a:rPr lang="vi-VN"/>
              <a:t>    Critical path - Thời gian cần thiết tối thiểu khi thực thi các lệnh trên</a:t>
            </a:r>
          </a:p>
          <a:p>
            <a:r>
              <a:rPr lang="vi-VN"/>
              <a:t>    Giá trị tín hiệu trên các đường dữ liệu khi thực thi các lệnh trên</a:t>
            </a:r>
          </a:p>
          <a:p>
            <a:r>
              <a:rPr lang="vi-VN"/>
              <a:t>    Giá trị các tín hiệu điều khiển khi thực thi các lệnh trên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4939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4400" dirty="0" err="1"/>
              <a:t>1</a:t>
            </a:r>
            <a:r>
              <a:rPr lang="en-US" sz="4400" err="1"/>
              <a:t>. </a:t>
            </a:r>
            <a:r>
              <a:rPr lang="en-US" sz="4400"/>
              <a:t>Kiến trúc tập lệnh</a:t>
            </a:r>
            <a:endParaRPr lang="en-US" sz="4400" dirty="0" err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0456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 dirty="0" err="1"/>
              <a:t>1</a:t>
            </a:r>
            <a:r>
              <a:rPr lang="en-US" sz="4400" err="1"/>
              <a:t>. </a:t>
            </a:r>
            <a:r>
              <a:rPr lang="en-US"/>
              <a:t>Kiến trúc tập lệnh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/>
              <a:t>Kiến trúc tập lệnh</a:t>
            </a:r>
          </a:p>
          <a:p>
            <a:pPr>
              <a:lnSpc>
                <a:spcPct val="150000"/>
              </a:lnSpc>
            </a:pPr>
            <a:r>
              <a:rPr lang="en-US"/>
              <a:t>Lệnh và tập lệnh MIPS</a:t>
            </a:r>
          </a:p>
          <a:p>
            <a:pPr>
              <a:lnSpc>
                <a:spcPct val="150000"/>
              </a:lnSpc>
            </a:pPr>
            <a:r>
              <a:rPr lang="en-US"/>
              <a:t>Các nhóm lệnh MIPS</a:t>
            </a:r>
          </a:p>
          <a:p>
            <a:pPr>
              <a:lnSpc>
                <a:spcPct val="150000"/>
              </a:lnSpc>
            </a:pPr>
            <a:r>
              <a:rPr lang="en-US"/>
              <a:t>Toán hạng</a:t>
            </a:r>
          </a:p>
          <a:p>
            <a:pPr>
              <a:lnSpc>
                <a:spcPct val="150000"/>
              </a:lnSpc>
            </a:pPr>
            <a:r>
              <a:rPr lang="en-US"/>
              <a:t>Định dạng lệnh</a:t>
            </a:r>
          </a:p>
          <a:p>
            <a:pPr>
              <a:lnSpc>
                <a:spcPct val="150000"/>
              </a:lnSpc>
            </a:pPr>
            <a:r>
              <a:rPr lang="vi-VN"/>
              <a:t>Các mô hình định địa chỉ</a:t>
            </a:r>
          </a:p>
          <a:p>
            <a:pPr>
              <a:lnSpc>
                <a:spcPct val="150000"/>
              </a:lnSpc>
            </a:pPr>
            <a:r>
              <a:rPr lang="vi-VN"/>
              <a:t>Chương trình hợp ngữ</a:t>
            </a:r>
            <a:endParaRPr lang="vi-VN" dirty="0" err="1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9264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Kiến trúc tập lệnh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Định nghĩa</a:t>
            </a:r>
          </a:p>
          <a:p>
            <a:pPr>
              <a:lnSpc>
                <a:spcPct val="150000"/>
              </a:lnSpc>
            </a:pPr>
            <a:r>
              <a:rPr lang="en-US"/>
              <a:t>Phân loại</a:t>
            </a:r>
          </a:p>
          <a:p>
            <a:pPr>
              <a:lnSpc>
                <a:spcPct val="150000"/>
              </a:lnSpc>
            </a:pPr>
            <a:r>
              <a:rPr lang="en-US"/>
              <a:t>Các tập lệnh phổ biến</a:t>
            </a:r>
          </a:p>
          <a:p>
            <a:pPr lvl="1">
              <a:lnSpc>
                <a:spcPct val="150000"/>
              </a:lnSpc>
            </a:pPr>
            <a:r>
              <a:rPr lang="en-US"/>
              <a:t>ARM</a:t>
            </a:r>
          </a:p>
          <a:p>
            <a:pPr lvl="1">
              <a:lnSpc>
                <a:spcPct val="150000"/>
              </a:lnSpc>
            </a:pPr>
            <a:r>
              <a:rPr lang="en-US"/>
              <a:t>MIPS</a:t>
            </a:r>
          </a:p>
          <a:p>
            <a:pPr lvl="1">
              <a:lnSpc>
                <a:spcPct val="150000"/>
              </a:lnSpc>
            </a:pPr>
            <a:r>
              <a:rPr lang="en-US"/>
              <a:t>Intel x86</a:t>
            </a:r>
            <a:endParaRPr lang="vi-VN" dirty="0" err="1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7</a:t>
            </a:fld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BED4F-E312-7A3F-A868-A67284A24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68"/>
          <a:stretch/>
        </p:blipFill>
        <p:spPr>
          <a:xfrm>
            <a:off x="5842072" y="3109127"/>
            <a:ext cx="5240518" cy="2897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B1546-1D67-F54F-1196-AD5060FFC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876" y="1009860"/>
            <a:ext cx="6640458" cy="192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0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Lệnh và tập lệnh MIPS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Đặc điểm của tập lệnh MIPS</a:t>
            </a:r>
          </a:p>
          <a:p>
            <a:pPr>
              <a:lnSpc>
                <a:spcPct val="150000"/>
              </a:lnSpc>
            </a:pPr>
            <a:r>
              <a:rPr lang="en-US"/>
              <a:t>Các lệnh của MIPS</a:t>
            </a:r>
          </a:p>
          <a:p>
            <a:pPr>
              <a:lnSpc>
                <a:spcPct val="150000"/>
              </a:lnSpc>
            </a:pPr>
            <a:endParaRPr lang="vi-VN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8</a:t>
            </a:fld>
            <a:endParaRPr lang="en-VN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2AF50B4-B603-C5AB-DE79-81490158FD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496493"/>
              </p:ext>
            </p:extLst>
          </p:nvPr>
        </p:nvGraphicFramePr>
        <p:xfrm>
          <a:off x="1353669" y="2729611"/>
          <a:ext cx="9131452" cy="36713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76261">
                  <a:extLst>
                    <a:ext uri="{9D8B030D-6E8A-4147-A177-3AD203B41FA5}">
                      <a16:colId xmlns:a16="http://schemas.microsoft.com/office/drawing/2014/main" val="1490004148"/>
                    </a:ext>
                  </a:extLst>
                </a:gridCol>
                <a:gridCol w="1938678">
                  <a:extLst>
                    <a:ext uri="{9D8B030D-6E8A-4147-A177-3AD203B41FA5}">
                      <a16:colId xmlns:a16="http://schemas.microsoft.com/office/drawing/2014/main" val="4213892799"/>
                    </a:ext>
                  </a:extLst>
                </a:gridCol>
                <a:gridCol w="1854387">
                  <a:extLst>
                    <a:ext uri="{9D8B030D-6E8A-4147-A177-3AD203B41FA5}">
                      <a16:colId xmlns:a16="http://schemas.microsoft.com/office/drawing/2014/main" val="4232936144"/>
                    </a:ext>
                  </a:extLst>
                </a:gridCol>
                <a:gridCol w="3455903">
                  <a:extLst>
                    <a:ext uri="{9D8B030D-6E8A-4147-A177-3AD203B41FA5}">
                      <a16:colId xmlns:a16="http://schemas.microsoft.com/office/drawing/2014/main" val="1620955599"/>
                    </a:ext>
                  </a:extLst>
                </a:gridCol>
                <a:gridCol w="806223">
                  <a:extLst>
                    <a:ext uri="{9D8B030D-6E8A-4147-A177-3AD203B41FA5}">
                      <a16:colId xmlns:a16="http://schemas.microsoft.com/office/drawing/2014/main" val="3787861774"/>
                    </a:ext>
                  </a:extLst>
                </a:gridCol>
              </a:tblGrid>
              <a:tr h="3557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Lệnh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  <a:endParaRPr lang="en-US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Ý 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nghĩa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ĐD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3136509467"/>
                  </a:ext>
                </a:extLst>
              </a:tr>
              <a:tr h="355708"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học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$s1,$s2,$s3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$s1=$s2 + $s3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1668551217"/>
                  </a:ext>
                </a:extLst>
              </a:tr>
              <a:tr h="355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Trừ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 $s1,$s2,$s3</a:t>
                      </a: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$s1=$s2 - $s3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2318092380"/>
                  </a:ext>
                </a:extLst>
              </a:tr>
              <a:tr h="355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tức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thì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s1,$s2,20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$s1=$s2 + 20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821970711"/>
                  </a:ext>
                </a:extLst>
              </a:tr>
              <a:tr h="355708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 dữ liệu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Nạp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word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$s1,20($s2)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 Mem[$s2 + 20]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554000970"/>
                  </a:ext>
                </a:extLst>
              </a:tr>
              <a:tr h="4041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word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 $s1,20($s2)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Mem[s2 + 20]=$s1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2408343351"/>
                  </a:ext>
                </a:extLst>
              </a:tr>
              <a:tr h="355708">
                <a:tc rowSpan="2"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Luận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 $s1,$s2,$s3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 ~($s2 | $s3)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1554380423"/>
                  </a:ext>
                </a:extLst>
              </a:tr>
              <a:tr h="3557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 phải luận lý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srl $s1,$s2,10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$s1=$s2&gt;&gt;10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1109960864"/>
                  </a:ext>
                </a:extLst>
              </a:tr>
              <a:tr h="3557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Rẽ nhánh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Nhảy nếu bằng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 $s1,$s2, label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Nếu ($s1==$s2) đi đến </a:t>
                      </a:r>
                      <a:r>
                        <a:rPr lang="en-US" sz="180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-US" sz="180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2486093111"/>
                  </a:ext>
                </a:extLst>
              </a:tr>
              <a:tr h="3557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Nhảy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Nhảy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label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label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224" marR="2122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marL="21224" marR="21224" marT="0" marB="0"/>
                </a:tc>
                <a:extLst>
                  <a:ext uri="{0D108BD9-81ED-4DB2-BD59-A6C34878D82A}">
                    <a16:rowId xmlns:a16="http://schemas.microsoft.com/office/drawing/2014/main" val="273374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01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Các nhóm lệnh MIPS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Số học</a:t>
            </a:r>
          </a:p>
          <a:p>
            <a:pPr>
              <a:lnSpc>
                <a:spcPct val="150000"/>
              </a:lnSpc>
            </a:pPr>
            <a:r>
              <a:rPr lang="en-US"/>
              <a:t>Luận lý</a:t>
            </a:r>
          </a:p>
          <a:p>
            <a:pPr>
              <a:lnSpc>
                <a:spcPct val="150000"/>
              </a:lnSpc>
            </a:pPr>
            <a:r>
              <a:rPr lang="en-US"/>
              <a:t>Truyền dữ liệu</a:t>
            </a:r>
          </a:p>
          <a:p>
            <a:pPr>
              <a:lnSpc>
                <a:spcPct val="150000"/>
              </a:lnSpc>
            </a:pPr>
            <a:r>
              <a:rPr lang="en-US"/>
              <a:t>Điều khiển</a:t>
            </a:r>
          </a:p>
          <a:p>
            <a:pPr>
              <a:lnSpc>
                <a:spcPct val="150000"/>
              </a:lnSpc>
            </a:pPr>
            <a:r>
              <a:rPr lang="en-US"/>
              <a:t>Nhảy</a:t>
            </a:r>
            <a:endParaRPr lang="vi-VN" dirty="0" err="1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9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880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3D70-B493-B27E-C2D8-4FDB431F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tập các lệnh MIPS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E15C-BD01-6E33-3773-5B90DCC35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Cho các thanh ghi $s1 = 0x00001234 và $s2 = 0x00004321. Cho biết kết quả của thanh ghi &amp;t0 khi thực hiện các câu lệnh sau:</a:t>
            </a:r>
          </a:p>
          <a:p>
            <a:pPr lvl="1"/>
            <a:r>
              <a:rPr lang="en-US"/>
              <a:t>sub $t0, $s2, $s1</a:t>
            </a:r>
          </a:p>
          <a:p>
            <a:pPr lvl="1"/>
            <a:r>
              <a:rPr lang="en-US"/>
              <a:t>or $t0, $s2, $s1</a:t>
            </a:r>
          </a:p>
          <a:p>
            <a:pPr lvl="1"/>
            <a:r>
              <a:rPr lang="en-US"/>
              <a:t>slt $t0, $s1, $s2</a:t>
            </a:r>
          </a:p>
          <a:p>
            <a:pPr lvl="1"/>
            <a:r>
              <a:rPr lang="en-US"/>
              <a:t>sll $t0, $s1, 3</a:t>
            </a:r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DB367-8D57-2289-7C51-184CA04D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AD2C4-F22F-1012-79EB-D50DF75B3D4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E4BA1-A68A-3957-2581-96FAC319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07440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Toán hạng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Thanh ghi</a:t>
            </a:r>
          </a:p>
          <a:p>
            <a:pPr>
              <a:lnSpc>
                <a:spcPct val="150000"/>
              </a:lnSpc>
            </a:pPr>
            <a:r>
              <a:rPr lang="en-US"/>
              <a:t>Bộ nhớ</a:t>
            </a:r>
          </a:p>
          <a:p>
            <a:pPr lvl="1">
              <a:lnSpc>
                <a:spcPct val="150000"/>
              </a:lnSpc>
            </a:pPr>
            <a:r>
              <a:rPr lang="en-US"/>
              <a:t>Load</a:t>
            </a:r>
          </a:p>
          <a:p>
            <a:pPr lvl="1">
              <a:lnSpc>
                <a:spcPct val="150000"/>
              </a:lnSpc>
            </a:pPr>
            <a:r>
              <a:rPr lang="en-US"/>
              <a:t>Store</a:t>
            </a:r>
          </a:p>
          <a:p>
            <a:pPr>
              <a:lnSpc>
                <a:spcPct val="150000"/>
              </a:lnSpc>
            </a:pPr>
            <a:r>
              <a:rPr lang="en-US"/>
              <a:t>Hằng số</a:t>
            </a:r>
            <a:endParaRPr lang="vi-VN" dirty="0" err="1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11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18078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5CC6-0A13-F212-AB62-141AC326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tập toán hạng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E7BE5-51A8-A65E-C9DF-11EA71A8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Cho f, g, h, được lưu lần lượt tại các thanh ghi $s0, $s1, $s2</a:t>
            </a:r>
          </a:p>
          <a:p>
            <a:r>
              <a:rPr lang="vi-VN"/>
              <a:t>Địa chỉ cơ sở của hai mảng A và B được lưu trong các thanh ghi $s6, $s7</a:t>
            </a:r>
          </a:p>
          <a:p>
            <a:pPr marL="0" indent="0" algn="ctr">
              <a:buNone/>
            </a:pPr>
            <a:r>
              <a:rPr lang="en-US" altLang="en-US" sz="2800" b="1" i="1">
                <a:cs typeface="Times New Roman" panose="02020603050405020304" pitchFamily="18" charset="0"/>
              </a:rPr>
              <a:t>A[4] = -g + h + B[1];</a:t>
            </a:r>
            <a:endParaRPr lang="en-US" altLang="en-US" sz="2800" b="1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8105C-587E-1D6C-E980-15089296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DD6A0-21E9-4E73-35D0-7CBB9258D25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3179F-7450-DDF3-A93C-2E13349E3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8476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Định dạng lệnh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/>
              <a:t>MIPS có 3 định dạng lệnh:</a:t>
            </a:r>
          </a:p>
          <a:p>
            <a: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/>
              <a:t>Định dạng lệnh R: Cho các thao tác tuần túy trên thanh ghi</a:t>
            </a:r>
          </a:p>
          <a:p>
            <a: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/>
              <a:t>Định dạng lệnh I: Cho các thao tác sử dụng số tức thời có giá trị nhỏ và vừa</a:t>
            </a:r>
          </a:p>
          <a:p>
            <a: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/>
              <a:t>Định dạng lệnh J: Cho các thao tác sử dụng số tức thời có giá trị lớn</a:t>
            </a:r>
          </a:p>
          <a:p>
            <a:r>
              <a:rPr lang="en-VN"/>
              <a:t>Chuyển đổi lệnh ASM MIPS sang mã máy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13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27508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AE84-BC52-FB20-2931-9BD9A46C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tập định dạng lệnh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083DD-801B-E6C4-0A49-ADBB4F7A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mã máy (biểu diễn hệ 16) cho các lệnh assembly của MIPS sau</a:t>
            </a:r>
          </a:p>
          <a:p>
            <a:pPr lvl="1"/>
            <a:r>
              <a:rPr lang="en-US"/>
              <a:t>or $t6,$s5,$s7</a:t>
            </a:r>
          </a:p>
          <a:p>
            <a:pPr lvl="1"/>
            <a:endParaRPr lang="en-US"/>
          </a:p>
          <a:p>
            <a:pPr lvl="1"/>
            <a:r>
              <a:rPr lang="en-US"/>
              <a:t>sll $t1, $t5, 7</a:t>
            </a:r>
          </a:p>
          <a:p>
            <a:pPr lvl="1"/>
            <a:endParaRPr lang="en-US"/>
          </a:p>
          <a:p>
            <a:pPr lvl="1"/>
            <a:r>
              <a:rPr lang="en-US"/>
              <a:t>addi $t0, $s3, 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DB31C-A2A1-88EC-145D-FF7A7EBC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DD633-67E1-3FCE-05C0-ABAE21800A4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FCD1-0EEF-070C-60C1-ACDA9A9B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14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682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vi-VN"/>
              <a:t>Các mô hình định địa chỉ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Định địa chỉ tức thời</a:t>
            </a:r>
          </a:p>
          <a:p>
            <a:pPr>
              <a:lnSpc>
                <a:spcPct val="150000"/>
              </a:lnSpc>
            </a:pPr>
            <a:r>
              <a:rPr lang="en-US"/>
              <a:t>Định địa chỉ thanh ghi</a:t>
            </a:r>
          </a:p>
          <a:p>
            <a:pPr>
              <a:lnSpc>
                <a:spcPct val="150000"/>
              </a:lnSpc>
            </a:pPr>
            <a:r>
              <a:rPr lang="en-US"/>
              <a:t>Định địa chỉ nền</a:t>
            </a:r>
          </a:p>
          <a:p>
            <a:pPr>
              <a:lnSpc>
                <a:spcPct val="150000"/>
              </a:lnSpc>
            </a:pPr>
            <a:r>
              <a:rPr lang="en-US"/>
              <a:t>Định địa chỉ PC tương đối</a:t>
            </a:r>
          </a:p>
          <a:p>
            <a:pPr>
              <a:lnSpc>
                <a:spcPct val="150000"/>
              </a:lnSpc>
            </a:pPr>
            <a:r>
              <a:rPr lang="en-US"/>
              <a:t>Định địa chỉ gián tiếp</a:t>
            </a:r>
            <a:endParaRPr lang="vi-VN" dirty="0" err="1"/>
          </a:p>
          <a:p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17451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vi-VN"/>
              <a:t>Chương trình hợp ngữ</a:t>
            </a:r>
            <a:endParaRPr lang="en-US" sz="44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1CFC-41FA-4D7B-A058-603D95BA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Cấu trúc chương trình</a:t>
            </a:r>
          </a:p>
          <a:p>
            <a:pPr>
              <a:lnSpc>
                <a:spcPct val="150000"/>
              </a:lnSpc>
            </a:pPr>
            <a:r>
              <a:rPr lang="en-US"/>
              <a:t>Khai báo dữ liệu</a:t>
            </a:r>
          </a:p>
          <a:p>
            <a:pPr>
              <a:lnSpc>
                <a:spcPct val="150000"/>
              </a:lnSpc>
            </a:pPr>
            <a:r>
              <a:rPr lang="en-US"/>
              <a:t>Lập trình bằng MARS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60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17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9723544" cy="884656"/>
          </a:xfrm>
        </p:spPr>
        <p:txBody>
          <a:bodyPr>
            <a:normAutofit/>
          </a:bodyPr>
          <a:lstStyle/>
          <a:p>
            <a:r>
              <a:rPr lang="en-US" dirty="0" err="1"/>
              <a:t>2</a:t>
            </a:r>
            <a:r>
              <a:rPr lang="en-US" err="1"/>
              <a:t>. </a:t>
            </a:r>
            <a:r>
              <a:rPr lang="en-US" sz="4400"/>
              <a:t>Biên dịch chương trình</a:t>
            </a:r>
            <a:endParaRPr lang="en-US" sz="4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0584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8CA0-461D-6770-0447-D7BAEED9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2</a:t>
            </a:r>
            <a:r>
              <a:rPr lang="en-US" err="1"/>
              <a:t>. </a:t>
            </a:r>
            <a:r>
              <a:rPr lang="en-US" sz="4400"/>
              <a:t>Biên dịch chương trình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EFBAD-FF33-8259-5C91-D566DA9D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E148-D457-2464-E3F8-05A390EC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18</a:t>
            </a:fld>
            <a:endParaRPr lang="en-V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B69087-EF1F-E553-FDEC-7CE94E329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Trình biên dịch</a:t>
            </a:r>
          </a:p>
          <a:p>
            <a:r>
              <a:rPr lang="vi-VN"/>
              <a:t>Trình biên dịch hợp ngữ</a:t>
            </a:r>
          </a:p>
          <a:p>
            <a:r>
              <a:rPr lang="vi-VN"/>
              <a:t>Biên dịch ngược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8CA0-461D-6770-0447-D7BAEED9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3600"/>
              </a:spcAft>
            </a:pPr>
            <a:r>
              <a:rPr lang="en-US"/>
              <a:t>Trình biên dịch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EFBAD-FF33-8259-5C91-D566DA9D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E148-D457-2464-E3F8-05A390EC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19</a:t>
            </a:fld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101C7-1B14-8C79-6B86-A88307809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072" y="805217"/>
            <a:ext cx="3186073" cy="559188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D46B9A-72F9-6DDB-8062-2DC712EF4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" y="1233824"/>
            <a:ext cx="7977052" cy="4943139"/>
          </a:xfrm>
        </p:spPr>
        <p:txBody>
          <a:bodyPr/>
          <a:lstStyle/>
          <a:p>
            <a:pPr marL="0" indent="0">
              <a:buNone/>
            </a:pPr>
            <a:r>
              <a:rPr lang="vi-VN"/>
              <a:t>Biết f, g, h, i và j là các biến. Nếu năm biến f đến j tương ứng với 5 thanh ghi $s0 đến $s4, mã MIPS cho câu lệnh if này là gì?</a:t>
            </a:r>
            <a:endParaRPr lang="en-US"/>
          </a:p>
          <a:p>
            <a:pPr marL="1314450" indent="0">
              <a:lnSpc>
                <a:spcPct val="100000"/>
              </a:lnSpc>
              <a:buNone/>
            </a:pPr>
            <a:r>
              <a:rPr lang="en-US" i="1"/>
              <a:t>if (i == j) </a:t>
            </a:r>
          </a:p>
          <a:p>
            <a:pPr marL="1314450" indent="0">
              <a:lnSpc>
                <a:spcPct val="100000"/>
              </a:lnSpc>
              <a:buNone/>
            </a:pPr>
            <a:r>
              <a:rPr lang="en-US" i="1"/>
              <a:t>	f = g + h; </a:t>
            </a:r>
          </a:p>
          <a:p>
            <a:pPr marL="1314450" indent="0">
              <a:lnSpc>
                <a:spcPct val="100000"/>
              </a:lnSpc>
              <a:buNone/>
            </a:pPr>
            <a:r>
              <a:rPr lang="en-US" i="1"/>
              <a:t>else </a:t>
            </a:r>
          </a:p>
          <a:p>
            <a:pPr marL="1314450" indent="0">
              <a:lnSpc>
                <a:spcPct val="100000"/>
              </a:lnSpc>
              <a:buNone/>
            </a:pPr>
            <a:r>
              <a:rPr lang="en-US" i="1"/>
              <a:t>	f = g – h;</a:t>
            </a:r>
          </a:p>
          <a:p>
            <a:pPr marL="0" indent="0">
              <a:buNone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163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8CA0-461D-6770-0447-D7BAEED9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3600"/>
              </a:spcAft>
            </a:pPr>
            <a:r>
              <a:rPr lang="en-US" b="1"/>
              <a:t>Trình biên dịch hợp </a:t>
            </a:r>
            <a:r>
              <a:rPr lang="en-US"/>
              <a:t>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EFBAD-FF33-8259-5C91-D566DA9D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E148-D457-2464-E3F8-05A390EC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20</a:t>
            </a:fld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E7628-85D6-333D-9359-2CAE1A43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966" y="1233824"/>
            <a:ext cx="2576879" cy="45226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352154-83B4-89E0-D8FC-565F9AC6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45" y="1233824"/>
            <a:ext cx="8482977" cy="4943139"/>
          </a:xfrm>
        </p:spPr>
        <p:txBody>
          <a:bodyPr/>
          <a:lstStyle/>
          <a:p>
            <a:r>
              <a:rPr lang="vi-VN"/>
              <a:t>Chuyển đổi lệnh ASM MIPS sang mã máy</a:t>
            </a:r>
            <a:r>
              <a:rPr lang="en-US"/>
              <a:t>:</a:t>
            </a:r>
            <a:endParaRPr lang="vi-VN"/>
          </a:p>
          <a:p>
            <a:pPr lvl="1"/>
            <a:r>
              <a:rPr lang="vi-VN"/>
              <a:t>Bước 1: Tra bảng “MIPS reference data” để xác định định dạng lệnh (R, I, J)</a:t>
            </a:r>
          </a:p>
          <a:p>
            <a:pPr lvl="1"/>
            <a:r>
              <a:rPr lang="vi-VN"/>
              <a:t>Bước 2: Tra các trường opcode và function</a:t>
            </a:r>
          </a:p>
          <a:p>
            <a:pPr lvl="1"/>
            <a:r>
              <a:rPr lang="vi-VN"/>
              <a:t>Bước 3: Tra vị trí và chỉ số các thanh ghi</a:t>
            </a:r>
          </a:p>
          <a:p>
            <a:pPr lvl="1"/>
            <a:r>
              <a:rPr lang="vi-VN"/>
              <a:t>Bước 4: Điền trường shamt và hoàn thành mã máy của lệnh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AE84-BC52-FB20-2931-9BD9A46C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tập trình biên dịch hợp ngữ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083DD-801B-E6C4-0A49-ADBB4F7A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mã máy (biểu diễn hệ 16) cho các lệnh assembly của MIPS sau</a:t>
            </a:r>
          </a:p>
          <a:p>
            <a:pPr lvl="1"/>
            <a:r>
              <a:rPr lang="en-US"/>
              <a:t>lw $t0, -24($s0)</a:t>
            </a:r>
          </a:p>
          <a:p>
            <a:pPr lvl="1"/>
            <a:endParaRPr lang="en-US"/>
          </a:p>
          <a:p>
            <a:pPr lvl="1"/>
            <a:r>
              <a:rPr lang="en-US"/>
              <a:t>sw $t2, 48($s0)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DB31C-A2A1-88EC-145D-FF7A7EBC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DD633-67E1-3FCE-05C0-ABAE21800A4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FCD1-0EEF-070C-60C1-ACDA9A9B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21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7599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D3BA-19EA-B0DF-FCDF-178E2962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Biên dịch ngược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A0A0-ADEB-9630-88AE-1F2A92CC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Chuyển mã máy sang ngôn ngữ Assembly (ASM) MIPS</a:t>
            </a:r>
            <a:r>
              <a:rPr lang="en-US"/>
              <a:t>:</a:t>
            </a:r>
            <a:endParaRPr lang="vi-VN"/>
          </a:p>
          <a:p>
            <a:pPr lvl="1"/>
            <a:r>
              <a:rPr lang="vi-VN"/>
              <a:t>Bước 1: Chuyển mã máy sang hệ nhị phân</a:t>
            </a:r>
          </a:p>
          <a:p>
            <a:pPr lvl="1"/>
            <a:r>
              <a:rPr lang="vi-VN"/>
              <a:t>Bước 2: Chọn 6bit đầu và tra opcode, nếu opcode bằng 000000 thì tra tiếp function 6bit cuối trong bảng MIPS</a:t>
            </a:r>
          </a:p>
          <a:p>
            <a:pPr lvl="1"/>
            <a:r>
              <a:rPr lang="vi-VN"/>
              <a:t>Bước 3: Tìm các thanh ghi tương ứng với các trường trong format</a:t>
            </a:r>
          </a:p>
          <a:p>
            <a:pPr lvl="1"/>
            <a:r>
              <a:rPr lang="vi-VN"/>
              <a:t>Bước 4: Hoàn thành lệnh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ADA12E-5A32-3877-16AC-6925E46C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122F6-3B6F-9D01-E802-FFE18B01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22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3904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64C8-96FC-8DAC-C1F5-F70AA3DE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Bài tập biên dịch ngược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70EDC-EEE6-0DCA-5525-EF01A0471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Cho các mã máy như sau, hỏi tương ứng với từng mã máy là lệnh assembly gì của MIPS</a:t>
            </a:r>
            <a:endParaRPr lang="en-US"/>
          </a:p>
          <a:p>
            <a:pPr lvl="1"/>
            <a:r>
              <a:rPr lang="en-US"/>
              <a:t>0x01304024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0x2128fff3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DD116-356F-6486-6C29-1D0134F3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84C3E-DDCE-A970-00F9-57693C7B0EE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14C66-2CF7-B524-0282-677128DB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23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14127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3</a:t>
            </a:r>
            <a:r>
              <a:rPr lang="en-US" err="1"/>
              <a:t>. </a:t>
            </a:r>
            <a:r>
              <a:rPr lang="en-US" sz="4400"/>
              <a:t>Bộ xử lý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00685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 err="1"/>
              <a:t>3</a:t>
            </a:r>
            <a:r>
              <a:rPr lang="en-US" err="1"/>
              <a:t>. </a:t>
            </a:r>
            <a:r>
              <a:rPr lang="en-US" sz="4400"/>
              <a:t>Bộ xử lý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25</a:t>
            </a:fld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EA0FF-B45B-8F30-21C9-20105693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Kiến trúc tổng quan bộ xử lý</a:t>
            </a:r>
          </a:p>
          <a:p>
            <a:r>
              <a:rPr lang="en-US"/>
              <a:t>Datapath</a:t>
            </a:r>
          </a:p>
          <a:p>
            <a:r>
              <a:rPr lang="en-US"/>
              <a:t>Control</a:t>
            </a:r>
          </a:p>
          <a:p>
            <a:r>
              <a:rPr lang="en-US"/>
              <a:t>Thực thi lệnh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5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/>
              <a:t>Kiến trúc tổng quan bộ xử lý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26</a:t>
            </a:fld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EA0FF-B45B-8F30-21C9-20105693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Kiến trúc máy tính bao gồm 3 thành phần:</a:t>
            </a:r>
          </a:p>
          <a:p>
            <a:pPr lvl="1"/>
            <a:r>
              <a:rPr lang="en-US"/>
              <a:t>Kiến trúc tập lệnh</a:t>
            </a:r>
          </a:p>
          <a:p>
            <a:pPr lvl="1"/>
            <a:r>
              <a:rPr lang="en-US"/>
              <a:t>Vi kiến trúc</a:t>
            </a:r>
          </a:p>
          <a:p>
            <a:pPr lvl="2"/>
            <a:r>
              <a:rPr lang="en-US"/>
              <a:t>Datapath</a:t>
            </a:r>
          </a:p>
          <a:p>
            <a:pPr lvl="2"/>
            <a:r>
              <a:rPr lang="en-US"/>
              <a:t>Control</a:t>
            </a:r>
          </a:p>
          <a:p>
            <a:pPr lvl="1"/>
            <a:r>
              <a:rPr lang="en-US"/>
              <a:t>Hệ thống máy tính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4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Datapath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27</a:t>
            </a:fld>
            <a:endParaRPr lang="en-VN" dirty="0"/>
          </a:p>
        </p:txBody>
      </p:sp>
      <p:pic>
        <p:nvPicPr>
          <p:cNvPr id="8" name="Picture 7" descr="f04-17-P374493">
            <a:extLst>
              <a:ext uri="{FF2B5EF4-FFF2-40B4-BE49-F238E27FC236}">
                <a16:creationId xmlns:a16="http://schemas.microsoft.com/office/drawing/2014/main" id="{9848EF9D-8B8E-36AE-B574-0A928EB54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168" y="742366"/>
            <a:ext cx="6819900" cy="5299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625C378-9B51-20F2-8D0E-57D34E219430}"/>
              </a:ext>
            </a:extLst>
          </p:cNvPr>
          <p:cNvGrpSpPr/>
          <p:nvPr/>
        </p:nvGrpSpPr>
        <p:grpSpPr>
          <a:xfrm>
            <a:off x="774145" y="1627798"/>
            <a:ext cx="2742730" cy="3796316"/>
            <a:chOff x="8726030" y="2208060"/>
            <a:chExt cx="2742730" cy="3796316"/>
          </a:xfrm>
        </p:grpSpPr>
        <p:grpSp>
          <p:nvGrpSpPr>
            <p:cNvPr id="10" name="Group 3">
              <a:extLst>
                <a:ext uri="{FF2B5EF4-FFF2-40B4-BE49-F238E27FC236}">
                  <a16:creationId xmlns:a16="http://schemas.microsoft.com/office/drawing/2014/main" id="{D4AE05C4-33D5-326F-08C4-25617DAF2093}"/>
                </a:ext>
              </a:extLst>
            </p:cNvPr>
            <p:cNvGrpSpPr/>
            <p:nvPr/>
          </p:nvGrpSpPr>
          <p:grpSpPr>
            <a:xfrm>
              <a:off x="8726030" y="2208060"/>
              <a:ext cx="2742730" cy="3766559"/>
              <a:chOff x="420120" y="1133640"/>
              <a:chExt cx="2099520" cy="3157199"/>
            </a:xfrm>
          </p:grpSpPr>
          <p:sp>
            <p:nvSpPr>
              <p:cNvPr id="12" name="CustomShape 4">
                <a:extLst>
                  <a:ext uri="{FF2B5EF4-FFF2-40B4-BE49-F238E27FC236}">
                    <a16:creationId xmlns:a16="http://schemas.microsoft.com/office/drawing/2014/main" id="{BC7C674A-8B4E-07B4-5A1C-E77108EB9B87}"/>
                  </a:ext>
                </a:extLst>
              </p:cNvPr>
              <p:cNvSpPr/>
              <p:nvPr/>
            </p:nvSpPr>
            <p:spPr>
              <a:xfrm>
                <a:off x="1553760" y="3522600"/>
                <a:ext cx="24120" cy="17424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CustomShape 5">
                <a:extLst>
                  <a:ext uri="{FF2B5EF4-FFF2-40B4-BE49-F238E27FC236}">
                    <a16:creationId xmlns:a16="http://schemas.microsoft.com/office/drawing/2014/main" id="{4AD8F638-E8B8-4A94-6FBE-8D7B401901B8}"/>
                  </a:ext>
                </a:extLst>
              </p:cNvPr>
              <p:cNvSpPr/>
              <p:nvPr/>
            </p:nvSpPr>
            <p:spPr>
              <a:xfrm>
                <a:off x="993960" y="1360800"/>
                <a:ext cx="1525680" cy="286560"/>
              </a:xfrm>
              <a:prstGeom prst="rect">
                <a:avLst/>
              </a:prstGeom>
              <a:solidFill>
                <a:srgbClr val="FFFFCC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3360" tIns="25560" rIns="63360" bIns="25560"/>
              <a:lstStyle/>
              <a:p>
                <a:pPr marL="343080" indent="-342720" algn="ctr">
                  <a:lnSpc>
                    <a:spcPct val="86000"/>
                  </a:lnSpc>
                  <a:spcBef>
                    <a:spcPts val="360"/>
                  </a:spcBef>
                </a:pPr>
                <a:r>
                  <a:rPr lang="en-US" sz="1800" b="1" i="1" strike="noStrike" spc="-1" dirty="0">
                    <a:solidFill>
                      <a:srgbClr val="C00000"/>
                    </a:solidFill>
                    <a:latin typeface="Arial"/>
                    <a:ea typeface="ＭＳ Ｐゴシック"/>
                  </a:rPr>
                  <a:t>Fetch</a:t>
                </a:r>
                <a:endParaRPr lang="en-US" sz="1800" b="0" strike="noStrike" spc="-1" dirty="0">
                  <a:latin typeface="Arial"/>
                </a:endParaRPr>
              </a:p>
            </p:txBody>
          </p:sp>
          <p:sp>
            <p:nvSpPr>
              <p:cNvPr id="14" name="CustomShape 6">
                <a:extLst>
                  <a:ext uri="{FF2B5EF4-FFF2-40B4-BE49-F238E27FC236}">
                    <a16:creationId xmlns:a16="http://schemas.microsoft.com/office/drawing/2014/main" id="{52A1315C-9B28-B177-B82E-6E0515151CF8}"/>
                  </a:ext>
                </a:extLst>
              </p:cNvPr>
              <p:cNvSpPr/>
              <p:nvPr/>
            </p:nvSpPr>
            <p:spPr>
              <a:xfrm>
                <a:off x="993960" y="1871348"/>
                <a:ext cx="1525680" cy="523373"/>
              </a:xfrm>
              <a:prstGeom prst="rect">
                <a:avLst/>
              </a:prstGeom>
              <a:solidFill>
                <a:srgbClr val="FFFFCC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3360" tIns="25560" rIns="63360" bIns="25560"/>
              <a:lstStyle/>
              <a:p>
                <a:pPr marL="343080" indent="-342720" algn="ctr">
                  <a:lnSpc>
                    <a:spcPct val="86000"/>
                  </a:lnSpc>
                  <a:spcBef>
                    <a:spcPts val="360"/>
                  </a:spcBef>
                </a:pPr>
                <a:r>
                  <a:rPr lang="en-US" sz="1800" b="1" i="1" strike="noStrike" spc="-1">
                    <a:solidFill>
                      <a:srgbClr val="006600"/>
                    </a:solidFill>
                    <a:latin typeface="Arial"/>
                    <a:ea typeface="ＭＳ Ｐゴシック"/>
                  </a:rPr>
                  <a:t>Instruction</a:t>
                </a:r>
                <a:endParaRPr lang="en-US" sz="1800" b="0" strike="noStrike" spc="-1">
                  <a:latin typeface="Arial"/>
                </a:endParaRPr>
              </a:p>
              <a:p>
                <a:pPr marL="343080" indent="-342720" algn="ctr">
                  <a:lnSpc>
                    <a:spcPct val="86000"/>
                  </a:lnSpc>
                  <a:spcBef>
                    <a:spcPts val="360"/>
                  </a:spcBef>
                </a:pPr>
                <a:r>
                  <a:rPr lang="en-US" sz="1800" b="1" i="1" strike="noStrike" spc="-1">
                    <a:solidFill>
                      <a:srgbClr val="006600"/>
                    </a:solidFill>
                    <a:latin typeface="Arial"/>
                    <a:ea typeface="ＭＳ Ｐゴシック"/>
                  </a:rPr>
                  <a:t>Decode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5" name="CustomShape 7">
                <a:extLst>
                  <a:ext uri="{FF2B5EF4-FFF2-40B4-BE49-F238E27FC236}">
                    <a16:creationId xmlns:a16="http://schemas.microsoft.com/office/drawing/2014/main" id="{2D4EF498-A491-8FFF-A9D7-0F294BB4B474}"/>
                  </a:ext>
                </a:extLst>
              </p:cNvPr>
              <p:cNvSpPr/>
              <p:nvPr/>
            </p:nvSpPr>
            <p:spPr>
              <a:xfrm>
                <a:off x="987139" y="2565360"/>
                <a:ext cx="1525680" cy="286560"/>
              </a:xfrm>
              <a:prstGeom prst="rect">
                <a:avLst/>
              </a:prstGeom>
              <a:solidFill>
                <a:srgbClr val="FFFFCC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3360" tIns="25560" rIns="63360" bIns="25560"/>
              <a:lstStyle/>
              <a:p>
                <a:pPr marL="343080" indent="-342720" algn="ctr">
                  <a:lnSpc>
                    <a:spcPct val="86000"/>
                  </a:lnSpc>
                  <a:spcBef>
                    <a:spcPts val="360"/>
                  </a:spcBef>
                </a:pPr>
                <a:r>
                  <a:rPr lang="en-US" sz="1800" b="1" i="1" strike="noStrike" spc="-1" dirty="0">
                    <a:solidFill>
                      <a:srgbClr val="660066"/>
                    </a:solidFill>
                    <a:latin typeface="Arial"/>
                    <a:ea typeface="ＭＳ Ｐゴシック"/>
                  </a:rPr>
                  <a:t>ALU</a:t>
                </a:r>
                <a:endParaRPr lang="en-US" sz="1800" b="0" strike="noStrike" spc="-1" dirty="0">
                  <a:latin typeface="Arial"/>
                </a:endParaRPr>
              </a:p>
            </p:txBody>
          </p:sp>
          <p:sp>
            <p:nvSpPr>
              <p:cNvPr id="16" name="CustomShape 8">
                <a:extLst>
                  <a:ext uri="{FF2B5EF4-FFF2-40B4-BE49-F238E27FC236}">
                    <a16:creationId xmlns:a16="http://schemas.microsoft.com/office/drawing/2014/main" id="{0130BB5D-C764-3083-0409-71796E24D101}"/>
                  </a:ext>
                </a:extLst>
              </p:cNvPr>
              <p:cNvSpPr/>
              <p:nvPr/>
            </p:nvSpPr>
            <p:spPr>
              <a:xfrm>
                <a:off x="987139" y="3052734"/>
                <a:ext cx="1525680" cy="310386"/>
              </a:xfrm>
              <a:prstGeom prst="rect">
                <a:avLst/>
              </a:prstGeom>
              <a:solidFill>
                <a:srgbClr val="FFFFCC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3360" tIns="25560" rIns="63360" bIns="25560"/>
              <a:lstStyle/>
              <a:p>
                <a:pPr algn="ctr">
                  <a:lnSpc>
                    <a:spcPct val="88000"/>
                  </a:lnSpc>
                  <a:spcBef>
                    <a:spcPts val="516"/>
                  </a:spcBef>
                </a:pPr>
                <a:r>
                  <a:rPr lang="en-US" sz="1800" b="1" i="1" strike="noStrike" spc="-1">
                    <a:solidFill>
                      <a:srgbClr val="002060"/>
                    </a:solidFill>
                    <a:latin typeface="Arial"/>
                    <a:ea typeface="ＭＳ Ｐゴシック"/>
                  </a:rPr>
                  <a:t>Memory Access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" name="CustomShape 9">
                <a:extLst>
                  <a:ext uri="{FF2B5EF4-FFF2-40B4-BE49-F238E27FC236}">
                    <a16:creationId xmlns:a16="http://schemas.microsoft.com/office/drawing/2014/main" id="{7A963441-6E8E-4967-3DBB-0494948D25B5}"/>
                  </a:ext>
                </a:extLst>
              </p:cNvPr>
              <p:cNvSpPr/>
              <p:nvPr/>
            </p:nvSpPr>
            <p:spPr>
              <a:xfrm>
                <a:off x="993960" y="3591000"/>
                <a:ext cx="1525680" cy="325800"/>
              </a:xfrm>
              <a:prstGeom prst="rect">
                <a:avLst/>
              </a:prstGeom>
              <a:solidFill>
                <a:srgbClr val="FFFFCC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63360" tIns="25560" rIns="63360" bIns="25560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b="1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Result Write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" name="Line 10">
                <a:extLst>
                  <a:ext uri="{FF2B5EF4-FFF2-40B4-BE49-F238E27FC236}">
                    <a16:creationId xmlns:a16="http://schemas.microsoft.com/office/drawing/2014/main" id="{E648C2AA-06A0-7923-2E14-6FA47E2104F1}"/>
                  </a:ext>
                </a:extLst>
              </p:cNvPr>
              <p:cNvSpPr/>
              <p:nvPr/>
            </p:nvSpPr>
            <p:spPr>
              <a:xfrm>
                <a:off x="1749259" y="1651097"/>
                <a:ext cx="6461" cy="22025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1">
                <a:extLst>
                  <a:ext uri="{FF2B5EF4-FFF2-40B4-BE49-F238E27FC236}">
                    <a16:creationId xmlns:a16="http://schemas.microsoft.com/office/drawing/2014/main" id="{4A09C8A6-E987-772B-11E5-BFCA8E83F26B}"/>
                  </a:ext>
                </a:extLst>
              </p:cNvPr>
              <p:cNvSpPr/>
              <p:nvPr/>
            </p:nvSpPr>
            <p:spPr>
              <a:xfrm>
                <a:off x="1756440" y="2853636"/>
                <a:ext cx="360" cy="20088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2">
                <a:extLst>
                  <a:ext uri="{FF2B5EF4-FFF2-40B4-BE49-F238E27FC236}">
                    <a16:creationId xmlns:a16="http://schemas.microsoft.com/office/drawing/2014/main" id="{8BAF2CD4-BA74-4956-3D67-5DC55397F93F}"/>
                  </a:ext>
                </a:extLst>
              </p:cNvPr>
              <p:cNvSpPr/>
              <p:nvPr/>
            </p:nvSpPr>
            <p:spPr>
              <a:xfrm>
                <a:off x="1749619" y="2385001"/>
                <a:ext cx="360" cy="1890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13">
                <a:extLst>
                  <a:ext uri="{FF2B5EF4-FFF2-40B4-BE49-F238E27FC236}">
                    <a16:creationId xmlns:a16="http://schemas.microsoft.com/office/drawing/2014/main" id="{6570387E-977E-54B1-5F52-E7836B454B17}"/>
                  </a:ext>
                </a:extLst>
              </p:cNvPr>
              <p:cNvSpPr/>
              <p:nvPr/>
            </p:nvSpPr>
            <p:spPr>
              <a:xfrm>
                <a:off x="1749979" y="3378600"/>
                <a:ext cx="360" cy="2124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D38685F4-D742-9849-F9DC-FEC44FCEA865}"/>
                  </a:ext>
                </a:extLst>
              </p:cNvPr>
              <p:cNvSpPr/>
              <p:nvPr/>
            </p:nvSpPr>
            <p:spPr>
              <a:xfrm flipH="1" flipV="1">
                <a:off x="587520" y="4284000"/>
                <a:ext cx="1162818" cy="6839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15">
                <a:extLst>
                  <a:ext uri="{FF2B5EF4-FFF2-40B4-BE49-F238E27FC236}">
                    <a16:creationId xmlns:a16="http://schemas.microsoft.com/office/drawing/2014/main" id="{0ECBEC87-AE67-585C-4717-E3432BDF04C8}"/>
                  </a:ext>
                </a:extLst>
              </p:cNvPr>
              <p:cNvSpPr/>
              <p:nvPr/>
            </p:nvSpPr>
            <p:spPr>
              <a:xfrm flipH="1" flipV="1">
                <a:off x="587160" y="1133640"/>
                <a:ext cx="360" cy="31500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16">
                <a:extLst>
                  <a:ext uri="{FF2B5EF4-FFF2-40B4-BE49-F238E27FC236}">
                    <a16:creationId xmlns:a16="http://schemas.microsoft.com/office/drawing/2014/main" id="{FB1DF8D5-A25F-3A43-A900-B405CD7D86CC}"/>
                  </a:ext>
                </a:extLst>
              </p:cNvPr>
              <p:cNvSpPr/>
              <p:nvPr/>
            </p:nvSpPr>
            <p:spPr>
              <a:xfrm>
                <a:off x="587159" y="1140839"/>
                <a:ext cx="1163899" cy="7339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17">
                <a:extLst>
                  <a:ext uri="{FF2B5EF4-FFF2-40B4-BE49-F238E27FC236}">
                    <a16:creationId xmlns:a16="http://schemas.microsoft.com/office/drawing/2014/main" id="{6C978110-F1DD-0B78-1134-BBCDB1F102BC}"/>
                  </a:ext>
                </a:extLst>
              </p:cNvPr>
              <p:cNvSpPr/>
              <p:nvPr/>
            </p:nvSpPr>
            <p:spPr>
              <a:xfrm>
                <a:off x="1751778" y="1148896"/>
                <a:ext cx="360" cy="2034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CustomShape 18">
                <a:extLst>
                  <a:ext uri="{FF2B5EF4-FFF2-40B4-BE49-F238E27FC236}">
                    <a16:creationId xmlns:a16="http://schemas.microsoft.com/office/drawing/2014/main" id="{496ECFAE-2D61-11DD-D586-C08350655536}"/>
                  </a:ext>
                </a:extLst>
              </p:cNvPr>
              <p:cNvSpPr/>
              <p:nvPr/>
            </p:nvSpPr>
            <p:spPr>
              <a:xfrm rot="16200000">
                <a:off x="-201960" y="2711880"/>
                <a:ext cx="1637640" cy="39348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800" b="1" strike="noStrike" spc="-1">
                    <a:solidFill>
                      <a:srgbClr val="000000"/>
                    </a:solidFill>
                    <a:latin typeface="Times New Roman"/>
                    <a:ea typeface="ＭＳ Ｐゴシック"/>
                  </a:rPr>
                  <a:t>Next Instruction</a:t>
                </a:r>
                <a:endParaRPr lang="en-US" sz="1800" b="0" strike="noStrike" spc="-1">
                  <a:latin typeface="Arial"/>
                </a:endParaRPr>
              </a:p>
            </p:txBody>
          </p:sp>
        </p:grp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94E929E4-C28F-2BC9-1F03-25D73391303E}"/>
                </a:ext>
              </a:extLst>
            </p:cNvPr>
            <p:cNvSpPr/>
            <p:nvPr/>
          </p:nvSpPr>
          <p:spPr>
            <a:xfrm>
              <a:off x="10468072" y="5534790"/>
              <a:ext cx="470" cy="469586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192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Control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28</a:t>
            </a:fld>
            <a:endParaRPr lang="en-VN" dirty="0"/>
          </a:p>
        </p:txBody>
      </p:sp>
      <p:pic>
        <p:nvPicPr>
          <p:cNvPr id="8" name="Picture 7" descr="f04-17-P374493">
            <a:extLst>
              <a:ext uri="{FF2B5EF4-FFF2-40B4-BE49-F238E27FC236}">
                <a16:creationId xmlns:a16="http://schemas.microsoft.com/office/drawing/2014/main" id="{9848EF9D-8B8E-36AE-B574-0A928EB54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397" y="483129"/>
            <a:ext cx="6819900" cy="5299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29F9275-7566-A2A9-D5EB-C296A848C6E9}"/>
              </a:ext>
            </a:extLst>
          </p:cNvPr>
          <p:cNvSpPr/>
          <p:nvPr/>
        </p:nvSpPr>
        <p:spPr>
          <a:xfrm>
            <a:off x="7387473" y="1638792"/>
            <a:ext cx="1578277" cy="15686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1EA516-ECBC-4E42-17C4-535C49DEA439}"/>
              </a:ext>
            </a:extLst>
          </p:cNvPr>
          <p:cNvSpPr/>
          <p:nvPr/>
        </p:nvSpPr>
        <p:spPr>
          <a:xfrm>
            <a:off x="9076443" y="4614421"/>
            <a:ext cx="901830" cy="95132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2E9F159-E932-5F5D-7889-FAD4A032207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82283" y="4546899"/>
            <a:ext cx="5875076" cy="841757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A422CD94-C4E8-086B-99E3-9CF0AA2091C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233201" y="2164344"/>
            <a:ext cx="4854804" cy="1295592"/>
          </a:xfrm>
          <a:prstGeom prst="rect">
            <a:avLst/>
          </a:prstGeom>
          <a:ln w="9360">
            <a:noFill/>
          </a:ln>
        </p:spPr>
      </p:pic>
    </p:spTree>
    <p:extLst>
      <p:ext uri="{BB962C8B-B14F-4D97-AF65-F5344CB8AC3E}">
        <p14:creationId xmlns:p14="http://schemas.microsoft.com/office/powerpoint/2010/main" val="216565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Thực thi lệnh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29</a:t>
            </a:fld>
            <a:endParaRPr lang="en-V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EA0FF-B45B-8F30-21C9-20105693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Lệnh số học và luận lý</a:t>
            </a:r>
          </a:p>
          <a:p>
            <a:r>
              <a:rPr lang="en-US"/>
              <a:t>lw</a:t>
            </a:r>
          </a:p>
          <a:p>
            <a:r>
              <a:rPr lang="en-US"/>
              <a:t>sw</a:t>
            </a:r>
          </a:p>
          <a:p>
            <a:r>
              <a:rPr lang="en-US"/>
              <a:t>beq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9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792F-8DB6-322C-CCF7-465E13C0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C</a:t>
            </a:r>
            <a:r>
              <a:rPr lang="vi-VN" sz="4000"/>
              <a:t>ác đường hoạt động khi lệnh thuộc nhóm logic và số học thực thi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BACD2-548A-18C2-B7A7-8FAE3D39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3D439-67AE-3A28-47E1-66DA1A94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30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00F117-ADB5-7D92-5A93-46D94F70B5D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D686080-1DCA-A894-64A0-3E382D5D7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8258" y="1316888"/>
            <a:ext cx="8995483" cy="5071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8466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792F-8DB6-322C-CCF7-465E13C0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</a:t>
            </a:r>
            <a:r>
              <a:rPr lang="vi-VN" sz="4000"/>
              <a:t>ác đường hoạt động khi lệnh </a:t>
            </a:r>
            <a:r>
              <a:rPr lang="en-US" sz="4000"/>
              <a:t>lw</a:t>
            </a:r>
            <a:r>
              <a:rPr lang="vi-VN" sz="4000"/>
              <a:t> thực thi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BACD2-548A-18C2-B7A7-8FAE3D39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3D439-67AE-3A28-47E1-66DA1A94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31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00F117-ADB5-7D92-5A93-46D94F70B5D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984AE7-38E8-B229-BDFF-F05C37C404C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515625" y="1124850"/>
            <a:ext cx="9160750" cy="5235779"/>
          </a:xfrm>
          <a:prstGeom prst="rect">
            <a:avLst/>
          </a:prstGeom>
          <a:ln w="9360">
            <a:noFill/>
          </a:ln>
        </p:spPr>
      </p:pic>
    </p:spTree>
    <p:extLst>
      <p:ext uri="{BB962C8B-B14F-4D97-AF65-F5344CB8AC3E}">
        <p14:creationId xmlns:p14="http://schemas.microsoft.com/office/powerpoint/2010/main" val="25805234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792F-8DB6-322C-CCF7-465E13C0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C</a:t>
            </a:r>
            <a:r>
              <a:rPr lang="vi-VN" sz="4000"/>
              <a:t>ác đường hoạt động khi lệnh </a:t>
            </a:r>
            <a:r>
              <a:rPr lang="en-US"/>
              <a:t>s</a:t>
            </a:r>
            <a:r>
              <a:rPr lang="en-US" sz="4000"/>
              <a:t>w</a:t>
            </a:r>
            <a:r>
              <a:rPr lang="vi-VN" sz="4000"/>
              <a:t> thực thi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BACD2-548A-18C2-B7A7-8FAE3D39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3D439-67AE-3A28-47E1-66DA1A94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32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00F117-ADB5-7D92-5A93-46D94F70B5D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EA8A573-4DEE-4381-C88E-BE7B95B9614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580380" y="1110421"/>
            <a:ext cx="8967183" cy="5264638"/>
          </a:xfrm>
          <a:prstGeom prst="rect">
            <a:avLst/>
          </a:prstGeom>
          <a:ln w="9360">
            <a:noFill/>
          </a:ln>
        </p:spPr>
      </p:pic>
    </p:spTree>
    <p:extLst>
      <p:ext uri="{BB962C8B-B14F-4D97-AF65-F5344CB8AC3E}">
        <p14:creationId xmlns:p14="http://schemas.microsoft.com/office/powerpoint/2010/main" val="3257154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792F-8DB6-322C-CCF7-465E13C0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</a:t>
            </a:r>
            <a:r>
              <a:rPr lang="vi-VN" sz="4000"/>
              <a:t>ác đường hoạt động khi lệnh </a:t>
            </a:r>
            <a:r>
              <a:rPr lang="en-US" sz="4000"/>
              <a:t>beq</a:t>
            </a:r>
            <a:r>
              <a:rPr lang="vi-VN" sz="4000"/>
              <a:t> thực thi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BACD2-548A-18C2-B7A7-8FAE3D39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3D439-67AE-3A28-47E1-66DA1A94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33</a:t>
            </a:fld>
            <a:endParaRPr lang="en-V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00F117-ADB5-7D92-5A93-46D94F70B5D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pPr/>
              <a:t>December 5, 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1A547-45D8-B18F-D732-2D0C5CC65E8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91194" y="1077142"/>
            <a:ext cx="9145555" cy="5331195"/>
          </a:xfrm>
          <a:prstGeom prst="rect">
            <a:avLst/>
          </a:prstGeom>
          <a:ln w="9360">
            <a:solidFill>
              <a:schemeClr val="tx1"/>
            </a:solidFill>
            <a:miter/>
          </a:ln>
        </p:spPr>
      </p:pic>
    </p:spTree>
    <p:extLst>
      <p:ext uri="{BB962C8B-B14F-4D97-AF65-F5344CB8AC3E}">
        <p14:creationId xmlns:p14="http://schemas.microsoft.com/office/powerpoint/2010/main" val="3816642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138E7-0BF8-4FBE-AB49-4184E532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34</a:t>
            </a:fld>
            <a:endParaRPr lang="en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02C380-9011-23F7-8E4B-E195C0DFF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929" y="2095027"/>
            <a:ext cx="7918398" cy="884656"/>
          </a:xfrm>
        </p:spPr>
        <p:txBody>
          <a:bodyPr>
            <a:normAutofit/>
          </a:bodyPr>
          <a:lstStyle/>
          <a:p>
            <a:r>
              <a:rPr lang="en-US" dirty="0" err="1"/>
              <a:t>4</a:t>
            </a:r>
            <a:r>
              <a:rPr lang="en-US" err="1"/>
              <a:t>. </a:t>
            </a:r>
            <a:r>
              <a:rPr lang="en-US"/>
              <a:t>Hiệu suất máy tính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EE24F-70E8-C3FA-399B-07DCA2C415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vi-VN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04BBE0-C7C7-D804-DD85-D99BEB3600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CDC7B-AFE9-6C1F-2CD6-AA61695C2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48626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4</a:t>
            </a:r>
            <a:r>
              <a:rPr lang="en-US"/>
              <a:t>. Hiệu suất máy tính</a:t>
            </a:r>
            <a:endParaRPr lang="en-US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Thời gian thực thi và hiệu suất</a:t>
            </a:r>
          </a:p>
          <a:p>
            <a:pPr>
              <a:lnSpc>
                <a:spcPct val="150000"/>
              </a:lnSpc>
            </a:pPr>
            <a:r>
              <a:rPr lang="en-US"/>
              <a:t>Clock</a:t>
            </a:r>
          </a:p>
          <a:p>
            <a:pPr>
              <a:lnSpc>
                <a:spcPct val="150000"/>
              </a:lnSpc>
            </a:pPr>
            <a:r>
              <a:rPr lang="en-US"/>
              <a:t>CPI</a:t>
            </a:r>
          </a:p>
          <a:p>
            <a:pPr>
              <a:lnSpc>
                <a:spcPct val="150000"/>
              </a:lnSpc>
            </a:pPr>
            <a:r>
              <a:rPr lang="en-US"/>
              <a:t>Tính hiệu suất theo IPS/MIPS</a:t>
            </a:r>
          </a:p>
          <a:p>
            <a:pPr>
              <a:lnSpc>
                <a:spcPct val="150000"/>
              </a:lnSpc>
            </a:pPr>
            <a:r>
              <a:rPr lang="en-US"/>
              <a:t>Các kỹ thuật nâng cao hiệu suất</a:t>
            </a:r>
            <a:endParaRPr lang="en-US" dirty="0" err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2424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Thời gian thực thi và hiệu suất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36</a:t>
            </a:fld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568C9D-E88D-CB17-80C3-150AA5BEE114}"/>
                  </a:ext>
                </a:extLst>
              </p:cNvPr>
              <p:cNvSpPr txBox="1"/>
              <p:nvPr/>
            </p:nvSpPr>
            <p:spPr>
              <a:xfrm>
                <a:off x="3794782" y="2020522"/>
                <a:ext cx="3840795" cy="7583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Hi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ệ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su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ấ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ờ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gian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ự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thi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568C9D-E88D-CB17-80C3-150AA5BEE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782" y="2020522"/>
                <a:ext cx="3840795" cy="7583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28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Clock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37</a:t>
            </a:fld>
            <a:endParaRPr lang="en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2C2452-2EB1-064C-6657-FC473C66C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04" y="376902"/>
            <a:ext cx="7363210" cy="2315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3E3D1E1C-597F-73B5-D423-E08FEE727EF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04214" y="3370081"/>
                <a:ext cx="9449586" cy="2584847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spcAft>
                    <a:spcPts val="1350"/>
                  </a:spcAft>
                  <a:buNone/>
                </a:pP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thi</a:t>
                </a:r>
                <a:r>
                  <a:rPr lang="en-US" dirty="0"/>
                  <a:t> =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chu </a:t>
                </a:r>
                <a:r>
                  <a:rPr lang="en-US" dirty="0" err="1"/>
                  <a:t>kỳ</a:t>
                </a:r>
                <a:r>
                  <a:rPr lang="en-US" dirty="0"/>
                  <a:t> clock * Chu </a:t>
                </a:r>
                <a:r>
                  <a:rPr lang="en-US" dirty="0" err="1"/>
                  <a:t>kỳ</a:t>
                </a:r>
                <a:r>
                  <a:rPr lang="en-US" dirty="0"/>
                  <a:t> clock</a:t>
                </a:r>
              </a:p>
              <a:p>
                <a:pPr marL="0" indent="0">
                  <a:spcAft>
                    <a:spcPts val="1350"/>
                  </a:spcAft>
                  <a:buNone/>
                </a:pPr>
                <a:endParaRPr lang="en-US" sz="2250" dirty="0"/>
              </a:p>
              <a:p>
                <a:pPr marL="0" indent="0">
                  <a:spcBef>
                    <a:spcPts val="7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Th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ờ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i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gian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th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ự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c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thi</m:t>
                      </m:r>
                      <m:r>
                        <m:rPr>
                          <m:nor/>
                        </m:rPr>
                        <a:rPr lang="en-US" b="0" i="0" smtClean="0">
                          <a:sym typeface="Wingdings" pitchFamily="2" charset="2"/>
                        </a:rPr>
                        <m:t> 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ổ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ố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chu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ỳ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clock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ầ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ố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ym typeface="Wingdings" pitchFamily="2" charset="2"/>
                            </a:rPr>
                            <m:t>clock</m:t>
                          </m:r>
                        </m:den>
                      </m:f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  <a:p>
                <a:pPr marL="0" indent="0">
                  <a:spcBef>
                    <a:spcPts val="750"/>
                  </a:spcBef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0" indent="0">
                  <a:spcBef>
                    <a:spcPts val="750"/>
                  </a:spcBef>
                  <a:buNone/>
                </a:pPr>
                <a:endParaRPr lang="en-US" sz="1650" dirty="0">
                  <a:sym typeface="Wingdings" pitchFamily="2" charset="2"/>
                </a:endParaRPr>
              </a:p>
              <a:p>
                <a:pPr marL="0" indent="0">
                  <a:spcBef>
                    <a:spcPts val="750"/>
                  </a:spcBef>
                  <a:buNone/>
                </a:pPr>
                <a:endParaRPr lang="en-US" sz="1650" dirty="0">
                  <a:sym typeface="Wingdings" pitchFamily="2" charset="2"/>
                </a:endParaRPr>
              </a:p>
              <a:p>
                <a:pPr marL="0" indent="0">
                  <a:spcBef>
                    <a:spcPts val="750"/>
                  </a:spcBef>
                  <a:buNone/>
                </a:pPr>
                <a:endParaRPr lang="en-US" sz="165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3E3D1E1C-597F-73B5-D423-E08FEE727E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4214" y="3370081"/>
                <a:ext cx="9449586" cy="258484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68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CPI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38</a:t>
            </a:fld>
            <a:endParaRPr lang="en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8758E5-5585-A043-4DAE-1895EC22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3255" y="1286614"/>
                <a:ext cx="11056416" cy="4824536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vi-VN" dirty="0"/>
              </a:p>
              <a:p>
                <a:pPr marL="0" indent="0" algn="ctr">
                  <a:buNone/>
                </a:pP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chu </a:t>
                </a:r>
                <a:r>
                  <a:rPr lang="en-US" dirty="0" err="1"/>
                  <a:t>kỳ</a:t>
                </a:r>
                <a:r>
                  <a:rPr lang="en-US" dirty="0"/>
                  <a:t> clock =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lệnh</a:t>
                </a:r>
                <a:r>
                  <a:rPr lang="en-US" dirty="0"/>
                  <a:t> * CPI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thi</a:t>
                </a:r>
                <a:r>
                  <a:rPr lang="en-US" dirty="0"/>
                  <a:t> =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lệnh</a:t>
                </a:r>
                <a:r>
                  <a:rPr lang="en-US" dirty="0"/>
                  <a:t> * CPI * Chu </a:t>
                </a:r>
                <a:r>
                  <a:rPr lang="en-US" dirty="0" err="1"/>
                  <a:t>kỳ</a:t>
                </a:r>
                <a:r>
                  <a:rPr lang="en-US" dirty="0"/>
                  <a:t> clock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thi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/>
                      <m:t>=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T</m:t>
                        </m:r>
                        <m:r>
                          <m:rPr>
                            <m:nor/>
                          </m:rPr>
                          <a:rPr lang="en-US"/>
                          <m:t>ổ</m:t>
                        </m:r>
                        <m:r>
                          <m:rPr>
                            <m:nor/>
                          </m:rPr>
                          <a:rPr lang="en-US"/>
                          <m:t>ng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s</m:t>
                        </m:r>
                        <m:r>
                          <m:rPr>
                            <m:nor/>
                          </m:rPr>
                          <a:rPr lang="en-US"/>
                          <m:t>ố </m:t>
                        </m:r>
                        <m:r>
                          <m:rPr>
                            <m:nor/>
                          </m:rPr>
                          <a:rPr lang="en-US"/>
                          <m:t>l</m:t>
                        </m:r>
                        <m:r>
                          <m:rPr>
                            <m:nor/>
                          </m:rPr>
                          <a:rPr lang="en-US"/>
                          <m:t>ệ</m:t>
                        </m:r>
                        <m:r>
                          <m:rPr>
                            <m:nor/>
                          </m:rPr>
                          <a:rPr lang="en-US"/>
                          <m:t>nh</m:t>
                        </m:r>
                        <m:r>
                          <m:rPr>
                            <m:nor/>
                          </m:rPr>
                          <a:rPr lang="en-US"/>
                          <m:t> ∗ </m:t>
                        </m:r>
                        <m:r>
                          <m:rPr>
                            <m:nor/>
                          </m:rPr>
                          <a:rPr lang="en-US"/>
                          <m:t>CPI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T</m:t>
                        </m:r>
                        <m:r>
                          <m:rPr>
                            <m:nor/>
                          </m:rPr>
                          <a:rPr lang="en-US" b="0" i="0" smtClean="0"/>
                          <m:t>ầ</m:t>
                        </m:r>
                        <m:r>
                          <m:rPr>
                            <m:nor/>
                          </m:rPr>
                          <a:rPr lang="en-US" b="0" i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smtClean="0"/>
                          <m:t>ố </m:t>
                        </m:r>
                        <m:r>
                          <m:rPr>
                            <m:nor/>
                          </m:rPr>
                          <a:rPr lang="en-US" b="0" i="0" smtClean="0"/>
                          <m:t>clock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8758E5-5585-A043-4DAE-1895EC22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3255" y="1286614"/>
                <a:ext cx="11056416" cy="482453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69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Tính hiệu suất theo IPS/MIPS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39</a:t>
            </a:fld>
            <a:endParaRPr lang="en-VN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08BF948-241A-C33A-C74E-5FE38E918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2796" y="2226297"/>
            <a:ext cx="7086600" cy="2246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113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D718-D2DE-61D0-3BFA-D97F6B014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Các kỹ thuật nâng cao hiệu suất</a:t>
            </a:r>
            <a:endParaRPr lang="en-US" dirty="0" err="1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4292B0-FE3A-A243-041D-0B53F61A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Thuật toán</a:t>
            </a:r>
          </a:p>
          <a:p>
            <a:pPr>
              <a:lnSpc>
                <a:spcPct val="150000"/>
              </a:lnSpc>
            </a:pPr>
            <a:r>
              <a:rPr lang="en-US"/>
              <a:t>Ngôn ngữ lập trình</a:t>
            </a:r>
          </a:p>
          <a:p>
            <a:pPr>
              <a:lnSpc>
                <a:spcPct val="150000"/>
              </a:lnSpc>
            </a:pPr>
            <a:r>
              <a:rPr lang="en-US"/>
              <a:t>Trình biên dịch</a:t>
            </a:r>
          </a:p>
          <a:p>
            <a:pPr>
              <a:lnSpc>
                <a:spcPct val="150000"/>
              </a:lnSpc>
            </a:pPr>
            <a:r>
              <a:rPr lang="en-US"/>
              <a:t>Kiến trúc tập lệnh</a:t>
            </a:r>
            <a:endParaRPr lang="en-US" dirty="0" err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E7BA-7602-077F-240B-5D76089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877E8-81CF-423F-2144-B85E01F7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40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4986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B866-8EDF-F15D-C7A2-8BC15C03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Tóm tắt lại nội dung buổi học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7396-8225-C07C-1690-BC3F21F0C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Chương 6: Kiến trúc tập lệnh</a:t>
            </a:r>
          </a:p>
          <a:p>
            <a:pPr>
              <a:lnSpc>
                <a:spcPct val="150000"/>
              </a:lnSpc>
            </a:pPr>
            <a:r>
              <a:rPr lang="en-US"/>
              <a:t>Chương 7: Biên dịch chương trình</a:t>
            </a:r>
          </a:p>
          <a:p>
            <a:pPr>
              <a:lnSpc>
                <a:spcPct val="150000"/>
              </a:lnSpc>
            </a:pPr>
            <a:r>
              <a:rPr lang="en-US"/>
              <a:t>Chương 8: Bộ xử lý</a:t>
            </a:r>
          </a:p>
          <a:p>
            <a:pPr>
              <a:lnSpc>
                <a:spcPct val="150000"/>
              </a:lnSpc>
            </a:pPr>
            <a:r>
              <a:rPr lang="en-US"/>
              <a:t>Chương 9: Hiệu suất máy tính</a:t>
            </a:r>
            <a:endParaRPr lang="en-US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2A4A2-262A-4AC3-E728-83923C96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A6AB6-B559-B305-F532-E9043B37199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6CDDB1B-AAE9-1649-A755-11FADEB7E97E}" type="datetime4">
              <a:rPr lang="en-US" smtClean="0"/>
              <a:t>December 5, 2024</a:t>
            </a:fld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7C66E-6DF0-4A2B-23BA-9536C77E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t>41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183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000C4-9A2E-05A2-1818-684E7F99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756CC-FF80-6915-444D-795BAF1C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42</a:t>
            </a:fld>
            <a:endParaRPr lang="en-V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14E97F-0DB8-D467-8B0C-A879824FD45F}"/>
              </a:ext>
            </a:extLst>
          </p:cNvPr>
          <p:cNvSpPr txBox="1">
            <a:spLocks/>
          </p:cNvSpPr>
          <p:nvPr/>
        </p:nvSpPr>
        <p:spPr>
          <a:xfrm>
            <a:off x="4684910" y="1918010"/>
            <a:ext cx="4012558" cy="1100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 flip="none" rotWithShape="1">
                  <a:gsLst>
                    <a:gs pos="0">
                      <a:srgbClr val="0072FF"/>
                    </a:gs>
                    <a:gs pos="100000">
                      <a:srgbClr val="00C6FF"/>
                    </a:gs>
                  </a:gsLst>
                  <a:lin ang="2700000" scaled="1"/>
                  <a:tileRect/>
                </a:gradFill>
                <a:effectLst>
                  <a:innerShdw blurRad="114300">
                    <a:schemeClr val="bg1"/>
                  </a:inn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THẢO LUẬN</a:t>
            </a:r>
          </a:p>
        </p:txBody>
      </p:sp>
      <p:pic>
        <p:nvPicPr>
          <p:cNvPr id="5" name="Picture 4" descr="http://data.sinhvienit.net/2013/T09/img/SinhVienIT.Net---suy-nghi.jpg">
            <a:extLst>
              <a:ext uri="{FF2B5EF4-FFF2-40B4-BE49-F238E27FC236}">
                <a16:creationId xmlns:a16="http://schemas.microsoft.com/office/drawing/2014/main" id="{91D62A03-02AF-AB7F-80A0-89E3D2490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42" y="3018931"/>
            <a:ext cx="3211551" cy="24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56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Bai giang so UIT update</Template>
  <TotalTime>2655</TotalTime>
  <Words>1931</Words>
  <Application>Microsoft Office PowerPoint</Application>
  <PresentationFormat>Widescreen</PresentationFormat>
  <Paragraphs>322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Cấu trúc đề thi</vt:lpstr>
      <vt:lpstr>PowerPoint Presentation</vt:lpstr>
      <vt:lpstr>Nội dung đề thi - các chương 6, 7, 8, 9</vt:lpstr>
      <vt:lpstr>PowerPoint Presentation</vt:lpstr>
      <vt:lpstr>1. Kiến trúc tập lệnh</vt:lpstr>
      <vt:lpstr>Kiến trúc tập lệnh</vt:lpstr>
      <vt:lpstr>Lệnh và tập lệnh MIPS</vt:lpstr>
      <vt:lpstr>Các nhóm lệnh MIPS</vt:lpstr>
      <vt:lpstr>Bài tập các lệnh MIPS </vt:lpstr>
      <vt:lpstr>Toán hạng</vt:lpstr>
      <vt:lpstr>Bài tập toán hạng</vt:lpstr>
      <vt:lpstr>Định dạng lệnh</vt:lpstr>
      <vt:lpstr>Bài tập định dạng lệnh</vt:lpstr>
      <vt:lpstr>Các mô hình định địa chỉ</vt:lpstr>
      <vt:lpstr>Chương trình hợp ngữ</vt:lpstr>
      <vt:lpstr>PowerPoint Presentation</vt:lpstr>
      <vt:lpstr>2. Biên dịch chương trình</vt:lpstr>
      <vt:lpstr>Trình biên dịch</vt:lpstr>
      <vt:lpstr>Trình biên dịch hợp ngữ</vt:lpstr>
      <vt:lpstr>Bài tập trình biên dịch hợp ngữ</vt:lpstr>
      <vt:lpstr>Biên dịch ngược</vt:lpstr>
      <vt:lpstr>Bài tập biên dịch ngược</vt:lpstr>
      <vt:lpstr>PowerPoint Presentation</vt:lpstr>
      <vt:lpstr>3. Bộ xử lý</vt:lpstr>
      <vt:lpstr>Kiến trúc tổng quan bộ xử lý</vt:lpstr>
      <vt:lpstr>Datapath</vt:lpstr>
      <vt:lpstr>Control</vt:lpstr>
      <vt:lpstr>Thực thi lệnh</vt:lpstr>
      <vt:lpstr>Các đường hoạt động khi lệnh thuộc nhóm logic và số học thực thi</vt:lpstr>
      <vt:lpstr>Các đường hoạt động khi lệnh lw thực thi</vt:lpstr>
      <vt:lpstr>Các đường hoạt động khi lệnh sw thực thi</vt:lpstr>
      <vt:lpstr>Các đường hoạt động khi lệnh beq thực thi</vt:lpstr>
      <vt:lpstr>PowerPoint Presentation</vt:lpstr>
      <vt:lpstr>4. Hiệu suất máy tính</vt:lpstr>
      <vt:lpstr>Thời gian thực thi và hiệu suất</vt:lpstr>
      <vt:lpstr>Clock</vt:lpstr>
      <vt:lpstr>CPI</vt:lpstr>
      <vt:lpstr>Tính hiệu suất theo IPS/MIPS</vt:lpstr>
      <vt:lpstr>Các kỹ thuật nâng cao hiệu suất</vt:lpstr>
      <vt:lpstr>Tóm tắt lại nội dung buổi học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Phan Đình Duy</cp:lastModifiedBy>
  <cp:revision>142</cp:revision>
  <dcterms:created xsi:type="dcterms:W3CDTF">2023-03-03T01:55:04Z</dcterms:created>
  <dcterms:modified xsi:type="dcterms:W3CDTF">2024-12-05T08:22:28Z</dcterms:modified>
</cp:coreProperties>
</file>